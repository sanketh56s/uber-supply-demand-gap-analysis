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3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549640" cy="49149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863840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3800" b="1">
                <a:solidFill>
                  <a:srgbClr val="F5F5F5"/>
                </a:solidFill>
                <a:latin typeface="Aptos Display"/>
              </a:defRPr>
            </a:pPr>
            <a:r>
              <a:t>UBER SUPPLY DEMAND GAP</a:t>
            </a:r>
          </a:p>
          <a:p>
            <a:pPr>
              <a:defRPr sz="2100">
                <a:solidFill>
                  <a:srgbClr val="F5C13C"/>
                </a:solidFill>
                <a:latin typeface="Aptos"/>
              </a:defRPr>
            </a:pPr>
            <a:r>
              <a:t>Data Analytics / Business Analytics —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7818120" cy="640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B4B4B9"/>
                </a:solidFill>
                <a:latin typeface="Aptos"/>
              </a:defRPr>
            </a:pPr>
            <a:r>
              <a:t>Exploratory analysis of demand, trip outcomes, pickup locations and service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17720"/>
            <a:ext cx="365760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5F5F5"/>
                </a:solidFill>
                <a:latin typeface="Aptos"/>
              </a:defRPr>
            </a:pPr>
            <a:r>
              <a:rPr sz="1100"/>
              <a:t>Sanketh S  |  Individual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549640" cy="49149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8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defRPr sz="2500" b="1">
                <a:solidFill>
                  <a:srgbClr val="F5F5F5"/>
                </a:solidFill>
                <a:latin typeface="Aptos Display"/>
              </a:defRPr>
            </a:pPr>
            <a:r>
              <a:t>Business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F5F5F5"/>
                </a:solidFill>
                <a:latin typeface="Aptos"/>
              </a:defRPr>
            </a:pPr>
            <a:r>
              <a:rPr sz="1800"/>
              <a:t>Identify demand patterns and unsuccessful trip outcomes so that vehicle supply, driver allocation and operational planning can be improved where customers are most affected.</a:t>
            </a:r>
          </a:p>
          <a:p>
            <a:pPr>
              <a:spcAft>
                <a:spcPts val="500"/>
              </a:spcAft>
              <a:defRPr sz="1900" b="0">
                <a:solidFill>
                  <a:srgbClr val="F5F5F5"/>
                </a:solidFill>
                <a:latin typeface="Aptos"/>
              </a:defRPr>
            </a:pPr>
            <a:endParaRPr sz="1800"/>
          </a:p>
          <a:p>
            <a:pPr>
              <a:spcAft>
                <a:spcPts val="500"/>
              </a:spcAft>
              <a:defRPr sz="1900" b="0">
                <a:solidFill>
                  <a:srgbClr val="F5F5F5"/>
                </a:solidFill>
                <a:latin typeface="Aptos"/>
              </a:defRPr>
            </a:pPr>
            <a:r>
              <a:rPr sz="1800"/>
              <a:t>Focus areas</a:t>
            </a:r>
          </a:p>
          <a:p>
            <a:pPr>
              <a:spcAft>
                <a:spcPts val="500"/>
              </a:spcAft>
              <a:defRPr sz="1900" b="0">
                <a:solidFill>
                  <a:srgbClr val="F5F5F5"/>
                </a:solidFill>
                <a:latin typeface="Aptos"/>
              </a:defRPr>
            </a:pPr>
            <a:r>
              <a:rPr sz="1800"/>
              <a:t>• Demand concentration by pickup point</a:t>
            </a:r>
          </a:p>
          <a:p>
            <a:pPr>
              <a:spcAft>
                <a:spcPts val="500"/>
              </a:spcAft>
              <a:defRPr sz="1900" b="0">
                <a:solidFill>
                  <a:srgbClr val="F5F5F5"/>
                </a:solidFill>
                <a:latin typeface="Aptos"/>
              </a:defRPr>
            </a:pPr>
            <a:r>
              <a:rPr sz="1800"/>
              <a:t>• Completed vs cancelled vs no-car requests</a:t>
            </a:r>
          </a:p>
          <a:p>
            <a:pPr>
              <a:spcAft>
                <a:spcPts val="500"/>
              </a:spcAft>
              <a:defRPr sz="1900" b="0">
                <a:solidFill>
                  <a:srgbClr val="F5F5F5"/>
                </a:solidFill>
                <a:latin typeface="Aptos"/>
              </a:defRPr>
            </a:pPr>
            <a:r>
              <a:rPr sz="1800"/>
              <a:t>• Location-specific operational gaps</a:t>
            </a:r>
          </a:p>
          <a:p>
            <a:pPr>
              <a:spcAft>
                <a:spcPts val="500"/>
              </a:spcAft>
              <a:defRPr sz="1900" b="0">
                <a:solidFill>
                  <a:srgbClr val="F5F5F5"/>
                </a:solidFill>
                <a:latin typeface="Aptos"/>
              </a:defRPr>
            </a:pPr>
            <a:r>
              <a:rPr sz="1800"/>
              <a:t>• Time-based demand patterns</a:t>
            </a:r>
          </a:p>
          <a:p>
            <a:pPr>
              <a:spcAft>
                <a:spcPts val="500"/>
              </a:spcAft>
              <a:defRPr sz="1900" b="0">
                <a:solidFill>
                  <a:srgbClr val="F5F5F5"/>
                </a:solidFill>
                <a:latin typeface="Aptos"/>
              </a:defRPr>
            </a:pPr>
            <a:r>
              <a:rPr sz="1800"/>
              <a:t>• Practical actions to improve successful-trip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4818888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defRPr sz="900">
                <a:solidFill>
                  <a:srgbClr val="B4B4B9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549640" cy="49149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8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defRPr sz="2500" b="1">
                <a:solidFill>
                  <a:srgbClr val="F5F5F5"/>
                </a:solidFill>
                <a:latin typeface="Aptos Display"/>
              </a:defRPr>
            </a:pPr>
            <a:r>
              <a:t>Dataset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F5F5F5"/>
                </a:solidFill>
                <a:latin typeface="Aptos"/>
              </a:defRPr>
            </a:pPr>
            <a:r>
              <a:rPr sz="1700"/>
              <a:t>6,745 records</a:t>
            </a:r>
          </a:p>
          <a:p>
            <a:pPr>
              <a:spcAft>
                <a:spcPts val="500"/>
              </a:spcAft>
              <a:defRPr sz="2200" b="0">
                <a:solidFill>
                  <a:srgbClr val="F5F5F5"/>
                </a:solidFill>
                <a:latin typeface="Aptos"/>
              </a:defRPr>
            </a:pPr>
            <a:r>
              <a:rPr sz="1700"/>
              <a:t>6 columns</a:t>
            </a:r>
          </a:p>
          <a:p>
            <a:pPr>
              <a:spcAft>
                <a:spcPts val="500"/>
              </a:spcAft>
              <a:defRPr sz="2200" b="0">
                <a:solidFill>
                  <a:srgbClr val="F5F5F5"/>
                </a:solidFill>
                <a:latin typeface="Aptos"/>
              </a:defRPr>
            </a:pPr>
            <a:r>
              <a:rPr sz="1700"/>
              <a:t>No duplicate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325880"/>
            <a:ext cx="2468880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r>
              <a:rPr sz="1500"/>
              <a:t>Columns</a:t>
            </a:r>
          </a:p>
          <a:p>
            <a:pPr>
              <a:spcAft>
                <a:spcPts val="5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r>
              <a:rPr sz="1500"/>
              <a:t>Request ID</a:t>
            </a:r>
          </a:p>
          <a:p>
            <a:pPr>
              <a:spcAft>
                <a:spcPts val="5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r>
              <a:rPr sz="1500"/>
              <a:t>Pickup point</a:t>
            </a:r>
          </a:p>
          <a:p>
            <a:pPr>
              <a:spcAft>
                <a:spcPts val="5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r>
              <a:rPr sz="1500"/>
              <a:t>Driver ID</a:t>
            </a:r>
          </a:p>
          <a:p>
            <a:pPr>
              <a:spcAft>
                <a:spcPts val="5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r>
              <a:rPr sz="1500"/>
              <a:t>Status</a:t>
            </a:r>
          </a:p>
          <a:p>
            <a:pPr>
              <a:spcAft>
                <a:spcPts val="5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r>
              <a:rPr sz="1500"/>
              <a:t>Request timestamp</a:t>
            </a:r>
          </a:p>
          <a:p>
            <a:pPr>
              <a:spcAft>
                <a:spcPts val="5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r>
              <a:rPr sz="1500"/>
              <a:t>Drop timestamp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325880"/>
            <a:ext cx="2743200" cy="228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r>
              <a:rPr sz="1400"/>
              <a:t>Data preparation</a:t>
            </a:r>
          </a:p>
          <a:p>
            <a:pPr>
              <a:spcAft>
                <a:spcPts val="5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r>
              <a:rPr sz="1400"/>
              <a:t>Missing Driver ID and Drop timestamp values were handled as “Not Available” in the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4818888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defRPr sz="900">
                <a:solidFill>
                  <a:srgbClr val="B4B4B9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549640" cy="49149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8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F5F5F5"/>
                </a:solidFill>
                <a:latin typeface="Aptos Display"/>
              </a:defRPr>
            </a:pPr>
            <a:r>
              <a:t>Overall Trip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7927848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100">
                <a:solidFill>
                  <a:srgbClr val="B4B4B9"/>
                </a:solidFill>
                <a:latin typeface="Aptos"/>
              </a:defRPr>
            </a:pPr>
            <a:r>
              <a:t>Actual chart output from the submitted Jupyter notebook</a:t>
            </a:r>
          </a:p>
        </p:txBody>
      </p:sp>
      <p:pic>
        <p:nvPicPr>
          <p:cNvPr id="5" name="Picture 4" descr="char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512" y="1124712"/>
            <a:ext cx="5848975" cy="3154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07408"/>
            <a:ext cx="8229600" cy="548640"/>
          </a:xfrm>
          <a:prstGeom prst="roundRect">
            <a:avLst/>
          </a:prstGeom>
          <a:solidFill>
            <a:srgbClr val="18181C"/>
          </a:solidFill>
          <a:ln>
            <a:solidFill>
              <a:srgbClr val="37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4562856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5C13C"/>
                </a:solidFill>
                <a:latin typeface="Aptos"/>
              </a:defRPr>
            </a:pPr>
            <a:r>
              <a:rPr sz="950" b="1"/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4489704"/>
            <a:ext cx="54406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rPr sz="900"/>
              <a:t>2,831 completed, 1,264 cancelled and 2,650 no-car requests. A large share of demand does not become a completed trip.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4562856"/>
            <a:ext cx="62179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5C13C"/>
                </a:solidFill>
                <a:latin typeface="Aptos"/>
              </a:defRPr>
            </a:pPr>
            <a:r>
              <a:rPr sz="900" b="1"/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4462272"/>
            <a:ext cx="1078992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F5F5F5"/>
                </a:solidFill>
                <a:latin typeface="Aptos"/>
              </a:defRPr>
            </a:pPr>
            <a:r>
              <a:rPr sz="800"/>
              <a:t>Reduce cancellation and vehicle-unavailability cases.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818888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defRPr sz="900">
                <a:solidFill>
                  <a:srgbClr val="B4B4B9"/>
                </a:solidFill>
              </a:defRPr>
            </a:pPr>
            <a:r>
              <a:rPr sz="900" b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549640" cy="49149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8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F5F5F5"/>
                </a:solidFill>
                <a:latin typeface="Aptos Display"/>
              </a:defRPr>
            </a:pPr>
            <a:r>
              <a:t>Pickup Point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7927848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100">
                <a:solidFill>
                  <a:srgbClr val="B4B4B9"/>
                </a:solidFill>
                <a:latin typeface="Aptos"/>
              </a:defRPr>
            </a:pPr>
            <a:r>
              <a:t>Where requests are concentrated</a:t>
            </a:r>
          </a:p>
        </p:txBody>
      </p:sp>
      <p:pic>
        <p:nvPicPr>
          <p:cNvPr id="5" name="Picture 4" descr="chart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512" y="1124712"/>
            <a:ext cx="5848975" cy="3154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07408"/>
            <a:ext cx="8229600" cy="548640"/>
          </a:xfrm>
          <a:prstGeom prst="roundRect">
            <a:avLst/>
          </a:prstGeom>
          <a:solidFill>
            <a:srgbClr val="18181C"/>
          </a:solidFill>
          <a:ln>
            <a:solidFill>
              <a:srgbClr val="37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4562856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5C13C"/>
                </a:solidFill>
                <a:latin typeface="Aptos"/>
              </a:defRPr>
            </a:pPr>
            <a:r>
              <a:rPr sz="950" b="1"/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4489704"/>
            <a:ext cx="54406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rPr sz="900"/>
              <a:t>City has 3,507 requests versus 3,238 at Airport, so demand is high at both locations.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4562856"/>
            <a:ext cx="62179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5C13C"/>
                </a:solidFill>
                <a:latin typeface="Aptos"/>
              </a:defRPr>
            </a:pPr>
            <a:r>
              <a:rPr sz="900" b="1"/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4462272"/>
            <a:ext cx="1078992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F5F5F5"/>
                </a:solidFill>
                <a:latin typeface="Aptos"/>
              </a:defRPr>
            </a:pPr>
            <a:r>
              <a:rPr sz="800"/>
              <a:t>Use pickup demand to guide driver positioning.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818888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defRPr sz="900">
                <a:solidFill>
                  <a:srgbClr val="B4B4B9"/>
                </a:solidFill>
              </a:defRPr>
            </a:pPr>
            <a:r>
              <a:rPr sz="900" b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549640" cy="49149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8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F5F5F5"/>
                </a:solidFill>
                <a:latin typeface="Aptos Display"/>
              </a:defRPr>
            </a:pPr>
            <a:r>
              <a:t>Successful Trip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7927848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100">
                <a:solidFill>
                  <a:srgbClr val="B4B4B9"/>
                </a:solidFill>
                <a:latin typeface="Aptos"/>
              </a:defRPr>
            </a:pPr>
            <a:r>
              <a:t>Completed trips by pickup point</a:t>
            </a:r>
          </a:p>
        </p:txBody>
      </p:sp>
      <p:pic>
        <p:nvPicPr>
          <p:cNvPr id="5" name="Picture 4" descr="chart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26" y="1124712"/>
            <a:ext cx="7324748" cy="3154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07408"/>
            <a:ext cx="8229600" cy="548640"/>
          </a:xfrm>
          <a:prstGeom prst="roundRect">
            <a:avLst/>
          </a:prstGeom>
          <a:solidFill>
            <a:srgbClr val="18181C"/>
          </a:solidFill>
          <a:ln>
            <a:solidFill>
              <a:srgbClr val="37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4562856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5C13C"/>
                </a:solidFill>
                <a:latin typeface="Aptos"/>
              </a:defRPr>
            </a:pPr>
            <a:r>
              <a:rPr sz="950" b="1"/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4489704"/>
            <a:ext cx="54406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rPr sz="900"/>
              <a:t>City records 1,504 completed trips compared with 1,327 at Airport.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4562856"/>
            <a:ext cx="62179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5C13C"/>
                </a:solidFill>
                <a:latin typeface="Aptos"/>
              </a:defRPr>
            </a:pPr>
            <a:r>
              <a:rPr sz="900" b="1"/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4462272"/>
            <a:ext cx="1078992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F5F5F5"/>
                </a:solidFill>
                <a:latin typeface="Aptos"/>
              </a:defRPr>
            </a:pPr>
            <a:r>
              <a:rPr sz="800"/>
              <a:t>Compare completion with unsuccessful outcomes by location.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818888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defRPr sz="900">
                <a:solidFill>
                  <a:srgbClr val="B4B4B9"/>
                </a:solidFill>
              </a:defRPr>
            </a:pPr>
            <a:r>
              <a:rPr sz="900" b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549640" cy="49149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8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F5F5F5"/>
                </a:solidFill>
                <a:latin typeface="Aptos Display"/>
              </a:defRPr>
            </a:pPr>
            <a:r>
              <a:t>Cancellation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7927848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100">
                <a:solidFill>
                  <a:srgbClr val="B4B4B9"/>
                </a:solidFill>
                <a:latin typeface="Aptos"/>
              </a:defRPr>
            </a:pPr>
            <a:r>
              <a:t>Where requests are lost after booking</a:t>
            </a:r>
          </a:p>
        </p:txBody>
      </p:sp>
      <p:pic>
        <p:nvPicPr>
          <p:cNvPr id="5" name="Picture 4" descr="chart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26" y="1124712"/>
            <a:ext cx="7324748" cy="3154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07408"/>
            <a:ext cx="8229600" cy="548640"/>
          </a:xfrm>
          <a:prstGeom prst="roundRect">
            <a:avLst/>
          </a:prstGeom>
          <a:solidFill>
            <a:srgbClr val="18181C"/>
          </a:solidFill>
          <a:ln>
            <a:solidFill>
              <a:srgbClr val="37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4562856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5C13C"/>
                </a:solidFill>
                <a:latin typeface="Aptos"/>
              </a:defRPr>
            </a:pPr>
            <a:r>
              <a:rPr sz="950" b="1"/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4489704"/>
            <a:ext cx="54406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rPr sz="900"/>
              <a:t>Airport has 1,066 cancellations versus 198 in City, making cancellation a major Airport issue.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4562856"/>
            <a:ext cx="62179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5C13C"/>
                </a:solidFill>
                <a:latin typeface="Aptos"/>
              </a:defRPr>
            </a:pPr>
            <a:r>
              <a:rPr sz="900" b="1"/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4462272"/>
            <a:ext cx="1078992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F5F5F5"/>
                </a:solidFill>
                <a:latin typeface="Aptos"/>
              </a:defRPr>
            </a:pPr>
            <a:r>
              <a:rPr sz="800"/>
              <a:t>Investigate waiting time, driver assignment and availability around Airport requests.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818888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defRPr sz="900">
                <a:solidFill>
                  <a:srgbClr val="B4B4B9"/>
                </a:solidFill>
              </a:defRPr>
            </a:pPr>
            <a:r>
              <a:rPr sz="900" b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549640" cy="49149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8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F5F5F5"/>
                </a:solidFill>
                <a:latin typeface="Aptos Display"/>
              </a:defRPr>
            </a:pPr>
            <a:r>
              <a:t>Vehicle Availability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7927848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100">
                <a:solidFill>
                  <a:srgbClr val="B4B4B9"/>
                </a:solidFill>
                <a:latin typeface="Aptos"/>
              </a:defRPr>
            </a:pPr>
            <a:r>
              <a:t>Requests that could not obtain a vehicle</a:t>
            </a:r>
          </a:p>
        </p:txBody>
      </p:sp>
      <p:pic>
        <p:nvPicPr>
          <p:cNvPr id="5" name="Picture 4" descr="chart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26" y="1124712"/>
            <a:ext cx="7324748" cy="3154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07408"/>
            <a:ext cx="8229600" cy="548640"/>
          </a:xfrm>
          <a:prstGeom prst="roundRect">
            <a:avLst/>
          </a:prstGeom>
          <a:solidFill>
            <a:srgbClr val="18181C"/>
          </a:solidFill>
          <a:ln>
            <a:solidFill>
              <a:srgbClr val="37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4562856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5C13C"/>
                </a:solidFill>
                <a:latin typeface="Aptos"/>
              </a:defRPr>
            </a:pPr>
            <a:r>
              <a:rPr sz="950" b="1"/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4489704"/>
            <a:ext cx="54406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rPr sz="900"/>
              <a:t>City has 1,804 no-car cases versus 846 at Airport, indicating a stronger supply shortage in 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4562856"/>
            <a:ext cx="62179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5C13C"/>
                </a:solidFill>
                <a:latin typeface="Aptos"/>
              </a:defRPr>
            </a:pPr>
            <a:r>
              <a:rPr sz="900" b="1"/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4462272"/>
            <a:ext cx="1078992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F5F5F5"/>
                </a:solidFill>
                <a:latin typeface="Aptos"/>
              </a:defRPr>
            </a:pPr>
            <a:r>
              <a:rPr sz="800"/>
              <a:t>Reposition or increase supply during high-demand City periods.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818888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defRPr sz="900">
                <a:solidFill>
                  <a:srgbClr val="B4B4B9"/>
                </a:solidFill>
              </a:defRPr>
            </a:pPr>
            <a:r>
              <a:rPr sz="900" b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549640" cy="49149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8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F5F5F5"/>
                </a:solidFill>
                <a:latin typeface="Aptos Display"/>
              </a:defRPr>
            </a:pPr>
            <a:r>
              <a:t>Location-Specific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7927848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100">
                <a:solidFill>
                  <a:srgbClr val="B4B4B9"/>
                </a:solidFill>
                <a:latin typeface="Aptos"/>
              </a:defRPr>
            </a:pPr>
            <a:r>
              <a:t>Airport and City show different operational patterns</a:t>
            </a:r>
          </a:p>
        </p:txBody>
      </p:sp>
      <p:pic>
        <p:nvPicPr>
          <p:cNvPr id="5" name="Picture 4" descr="chart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1170432"/>
            <a:ext cx="5998464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42032" y="420624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5C13C"/>
                </a:solidFill>
                <a:latin typeface="Aptos"/>
              </a:defRPr>
            </a:pPr>
            <a:r>
              <a:rPr sz="950" b="1"/>
              <a:t>Airport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420624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5C13C"/>
                </a:solidFill>
                <a:latin typeface="Aptos"/>
              </a:defRPr>
            </a:pPr>
            <a:r>
              <a:rPr sz="950" b="1"/>
              <a:t>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98848"/>
            <a:ext cx="7315200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rPr sz="900"/>
              <a:t>The same supply strategy should not automatically be applied to both pickup points.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4818888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defRPr sz="900">
                <a:solidFill>
                  <a:srgbClr val="B4B4B9"/>
                </a:solidFill>
              </a:defRPr>
            </a:pPr>
            <a:r>
              <a:rPr sz="900" b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549640" cy="49149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8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F5F5F5"/>
                </a:solidFill>
                <a:latin typeface="Aptos Display"/>
              </a:defRPr>
            </a:pPr>
            <a:r>
              <a:t>Time-Based Demand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7927848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100">
                <a:solidFill>
                  <a:srgbClr val="B4B4B9"/>
                </a:solidFill>
                <a:latin typeface="Aptos"/>
              </a:defRPr>
            </a:pPr>
            <a:r>
              <a:t>Pickup-point mix across request timestamps</a:t>
            </a:r>
          </a:p>
        </p:txBody>
      </p:sp>
      <p:pic>
        <p:nvPicPr>
          <p:cNvPr id="5" name="Picture 4" descr="chart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166" y="1124712"/>
            <a:ext cx="7329667" cy="3154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07408"/>
            <a:ext cx="8229600" cy="548640"/>
          </a:xfrm>
          <a:prstGeom prst="roundRect">
            <a:avLst/>
          </a:prstGeom>
          <a:solidFill>
            <a:srgbClr val="18181C"/>
          </a:solidFill>
          <a:ln>
            <a:solidFill>
              <a:srgbClr val="37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4562856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5C13C"/>
                </a:solidFill>
                <a:latin typeface="Aptos"/>
              </a:defRPr>
            </a:pPr>
            <a:r>
              <a:rPr sz="950" b="1"/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4489704"/>
            <a:ext cx="54406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rPr sz="900"/>
              <a:t>Request activity varies over time and the Airport/City mix is not identical at every timestamp.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4562856"/>
            <a:ext cx="62179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5C13C"/>
                </a:solidFill>
                <a:latin typeface="Aptos"/>
              </a:defRPr>
            </a:pPr>
            <a:r>
              <a:rPr sz="900" b="1"/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4462272"/>
            <a:ext cx="1078992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F5F5F5"/>
                </a:solidFill>
                <a:latin typeface="Aptos"/>
              </a:defRPr>
            </a:pPr>
            <a:r>
              <a:rPr sz="800"/>
              <a:t>Use time patterns for shift planning and targeted driver incentives.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818888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defRPr sz="900">
                <a:solidFill>
                  <a:srgbClr val="B4B4B9"/>
                </a:solidFill>
              </a:defRPr>
            </a:pPr>
            <a:r>
              <a:rPr sz="900" b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549640" cy="49149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8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F5F5F5"/>
                </a:solidFill>
                <a:latin typeface="Aptos Display"/>
              </a:defRPr>
            </a:pPr>
            <a:r>
              <a:t>Status Distribution by Request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7927848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100">
                <a:solidFill>
                  <a:srgbClr val="B4B4B9"/>
                </a:solidFill>
                <a:latin typeface="Aptos"/>
              </a:defRPr>
            </a:pPr>
            <a:r>
              <a:t>Where unsuccessful outcomes appear across timestamps</a:t>
            </a:r>
          </a:p>
        </p:txBody>
      </p:sp>
      <p:pic>
        <p:nvPicPr>
          <p:cNvPr id="5" name="Picture 4" descr="chart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05" y="1124712"/>
            <a:ext cx="7309990" cy="3154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07408"/>
            <a:ext cx="8229600" cy="548640"/>
          </a:xfrm>
          <a:prstGeom prst="roundRect">
            <a:avLst/>
          </a:prstGeom>
          <a:solidFill>
            <a:srgbClr val="18181C"/>
          </a:solidFill>
          <a:ln>
            <a:solidFill>
              <a:srgbClr val="37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4562856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5C13C"/>
                </a:solidFill>
                <a:latin typeface="Aptos"/>
              </a:defRPr>
            </a:pPr>
            <a:r>
              <a:rPr sz="950" b="1"/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4489704"/>
            <a:ext cx="54406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rPr sz="900"/>
              <a:t>Status composition changes across request timestamps, making time a useful operational planning dimension.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4562856"/>
            <a:ext cx="62179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5C13C"/>
                </a:solidFill>
                <a:latin typeface="Aptos"/>
              </a:defRPr>
            </a:pPr>
            <a:r>
              <a:rPr sz="900" b="1"/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4462272"/>
            <a:ext cx="1078992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F5F5F5"/>
                </a:solidFill>
                <a:latin typeface="Aptos"/>
              </a:defRPr>
            </a:pPr>
            <a:r>
              <a:rPr sz="800"/>
              <a:t>Combine time and status to target periods with the highest service gap.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818888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defRPr sz="900">
                <a:solidFill>
                  <a:srgbClr val="B4B4B9"/>
                </a:solidFill>
              </a:defRPr>
            </a:pPr>
            <a:r>
              <a:rPr sz="900" b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549640" cy="49149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8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500" b="1">
                <a:solidFill>
                  <a:srgbClr val="F5F5F5"/>
                </a:solidFill>
                <a:latin typeface="Aptos Display"/>
              </a:defRPr>
            </a:pPr>
            <a:r>
              <a:t>Peak Request Timestamps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7927848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100">
                <a:solidFill>
                  <a:srgbClr val="B4B4B9"/>
                </a:solidFill>
                <a:latin typeface="Aptos"/>
              </a:defRPr>
            </a:pPr>
            <a:r>
              <a:t>Top request timestamps identified in the notebook</a:t>
            </a:r>
          </a:p>
        </p:txBody>
      </p:sp>
      <p:pic>
        <p:nvPicPr>
          <p:cNvPr id="5" name="Picture 4" descr="chart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912" y="1124712"/>
            <a:ext cx="4652175" cy="3154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07408"/>
            <a:ext cx="8229600" cy="548640"/>
          </a:xfrm>
          <a:prstGeom prst="roundRect">
            <a:avLst/>
          </a:prstGeom>
          <a:solidFill>
            <a:srgbClr val="18181C"/>
          </a:solidFill>
          <a:ln>
            <a:solidFill>
              <a:srgbClr val="37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4562856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5C13C"/>
                </a:solidFill>
                <a:latin typeface="Aptos"/>
              </a:defRPr>
            </a:pPr>
            <a:r>
              <a:rPr sz="950" b="1"/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4489704"/>
            <a:ext cx="54406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5F5"/>
                </a:solidFill>
                <a:latin typeface="Aptos"/>
              </a:defRPr>
            </a:pPr>
            <a:r>
              <a:rPr sz="900"/>
              <a:t>Demand is concentrated among a limited set of timestamps rather than being evenly distributed.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4562856"/>
            <a:ext cx="62179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5C13C"/>
                </a:solidFill>
                <a:latin typeface="Aptos"/>
              </a:defRPr>
            </a:pPr>
            <a:r>
              <a:rPr sz="900" b="1"/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4462272"/>
            <a:ext cx="1078992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F5F5F5"/>
                </a:solidFill>
                <a:latin typeface="Aptos"/>
              </a:defRPr>
            </a:pPr>
            <a:r>
              <a:rPr sz="800"/>
              <a:t>Prepare supply before expected peaks instead of reacting after shortages occur.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818888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defRPr sz="900">
                <a:solidFill>
                  <a:srgbClr val="B4B4B9"/>
                </a:solidFill>
              </a:defRPr>
            </a:pPr>
            <a:r>
              <a:rPr sz="900" b="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549640" cy="49149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8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defRPr sz="2500" b="1">
                <a:solidFill>
                  <a:srgbClr val="F5F5F5"/>
                </a:solidFill>
                <a:latin typeface="Aptos Display"/>
              </a:defRPr>
            </a:pPr>
            <a:r>
              <a:t>Recommended Business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35240" cy="33375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rPr sz="1300"/>
              <a:t>1. Balance supply with demand — position vehicles using pickup-point and time-based request patterns.</a:t>
            </a:r>
          </a:p>
          <a:p>
            <a:pPr>
              <a:spcAft>
                <a:spcPts val="5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rPr sz="1300"/>
              <a:t>2. Reduce vehicle-unavailability — prioritize locations and periods with large no-car counts.</a:t>
            </a:r>
          </a:p>
          <a:p>
            <a:pPr>
              <a:spcAft>
                <a:spcPts val="5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rPr sz="1300"/>
              <a:t>3. Investigate cancellations — especially the unusually high Airport cancellation volume.</a:t>
            </a:r>
          </a:p>
          <a:p>
            <a:pPr>
              <a:spcAft>
                <a:spcPts val="5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rPr sz="1300"/>
              <a:t>4. Plan by location — City and Airport need different operational strategies.</a:t>
            </a:r>
          </a:p>
          <a:p>
            <a:pPr>
              <a:spcAft>
                <a:spcPts val="5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rPr sz="1300"/>
              <a:t>5. Prepare for peaks — use request-time patterns to schedule drivers before demand rises.</a:t>
            </a:r>
          </a:p>
          <a:p>
            <a:pPr>
              <a:spcAft>
                <a:spcPts val="5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rPr sz="1300"/>
              <a:t>6. Measure improvement — track completed, cancelled and no-car counts after interventions.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4818888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defRPr sz="900">
                <a:solidFill>
                  <a:srgbClr val="B4B4B9"/>
                </a:solidFill>
              </a:defRPr>
            </a:pPr>
            <a:r>
              <a:rPr sz="900"/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549640" cy="49149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8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defRPr sz="2500" b="1">
                <a:solidFill>
                  <a:srgbClr val="F5F5F5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589520" cy="24231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5F5F5"/>
                </a:solidFill>
                <a:latin typeface="Aptos"/>
              </a:defRPr>
            </a:pPr>
            <a:r>
              <a:rPr sz="1300"/>
              <a:t>The EDA shows that Uber's request outcomes are strongly connected to service availability and location-specific operating conditions.</a:t>
            </a:r>
          </a:p>
          <a:p>
            <a:pPr>
              <a:spcAft>
                <a:spcPts val="800"/>
              </a:spcAft>
              <a:defRPr sz="2100" b="0">
                <a:solidFill>
                  <a:srgbClr val="F5F5F5"/>
                </a:solidFill>
                <a:latin typeface="Aptos"/>
              </a:defRPr>
            </a:pPr>
            <a:endParaRPr sz="1300"/>
          </a:p>
          <a:p>
            <a:pPr>
              <a:spcAft>
                <a:spcPts val="800"/>
              </a:spcAft>
              <a:defRPr sz="2100" b="0">
                <a:solidFill>
                  <a:srgbClr val="F5F5F5"/>
                </a:solidFill>
                <a:latin typeface="Aptos"/>
              </a:defRPr>
            </a:pPr>
            <a:r>
              <a:rPr sz="1300"/>
              <a:t>City has slightly higher overall demand and a larger no-car problem, while Airport has a much higher cancellation count.</a:t>
            </a:r>
          </a:p>
          <a:p>
            <a:pPr>
              <a:spcAft>
                <a:spcPts val="800"/>
              </a:spcAft>
              <a:defRPr sz="2100" b="0">
                <a:solidFill>
                  <a:srgbClr val="F5F5F5"/>
                </a:solidFill>
                <a:latin typeface="Aptos"/>
              </a:defRPr>
            </a:pPr>
            <a:endParaRPr sz="1300"/>
          </a:p>
          <a:p>
            <a:pPr>
              <a:spcAft>
                <a:spcPts val="800"/>
              </a:spcAft>
              <a:defRPr sz="2100" b="0">
                <a:solidFill>
                  <a:srgbClr val="F5F5F5"/>
                </a:solidFill>
                <a:latin typeface="Aptos"/>
              </a:defRPr>
            </a:pPr>
            <a:r>
              <a:rPr sz="1300"/>
              <a:t>The clearest business opportunities are to improve vehicle availability, reduce cancellations and use time-based demand patterns for proactive driver allocation.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60520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5C13C"/>
                </a:solidFill>
                <a:latin typeface="Aptos"/>
              </a:defRPr>
            </a:pPr>
            <a:r>
              <a:rPr sz="1200" b="1"/>
              <a:t>Key message: plan supply based on BOTH where and when customers request rides.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18888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defRPr sz="900">
                <a:solidFill>
                  <a:srgbClr val="B4B4B9"/>
                </a:solidFill>
              </a:defRPr>
            </a:pPr>
            <a:r>
              <a:rPr sz="900"/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634</Words>
  <Application>Microsoft Office PowerPoint</Application>
  <PresentationFormat>On-screen Show (16:9)</PresentationFormat>
  <Paragraphs>106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Sanketh S</dc:creator>
  <cp:lastModifiedBy>Dhanush M Rao</cp:lastModifiedBy>
  <cp:revision>2</cp:revision>
  <dcterms:modified xsi:type="dcterms:W3CDTF">2026-10-07T07:12:02Z</dcterms:modified>
</cp:coreProperties>
</file>